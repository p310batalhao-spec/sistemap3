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Atendimentos por mês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Nº de atendimentos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Nº de atendimentos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Feminino</c:v>
                </c:pt>
                <c:pt idx="1">
                  <c:v>Masculino</c:v>
                </c:pt>
                <c:pt idx="2">
                  <c:v>Outro/ignorado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Nº de atendimentos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0-6 anos</c:v>
                </c:pt>
                <c:pt idx="1">
                  <c:v>7-11 anos</c:v>
                </c:pt>
                <c:pt idx="2">
                  <c:v>12-17 anos</c:v>
                </c:pt>
                <c:pt idx="3">
                  <c:v>18-24 anos</c:v>
                </c:pt>
                <c:pt idx="4">
                  <c:v>25-29 anos</c:v>
                </c:pt>
                <c:pt idx="5">
                  <c:v>30-59 anos</c:v>
                </c:pt>
                <c:pt idx="6">
                  <c:v>60 anos ou mais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Nº de atendimentos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Física</c:v>
                </c:pt>
                <c:pt idx="1">
                  <c:v>Doméstica</c:v>
                </c:pt>
                <c:pt idx="2">
                  <c:v>Autoprovocada</c:v>
                </c:pt>
                <c:pt idx="3">
                  <c:v>Psicológica/moral</c:v>
                </c:pt>
                <c:pt idx="4">
                  <c:v>Sexual</c:v>
                </c:pt>
                <c:pt idx="5">
                  <c:v>Negligência/abandono</c:v>
                </c:pt>
                <c:pt idx="6">
                  <c:v>Financeira/econômica</c:v>
                </c:pt>
                <c:pt idx="7">
                  <c:v>Intervenção legal</c:v>
                </c:pt>
                <c:pt idx="8">
                  <c:v>Tortura</c:v>
                </c:pt>
                <c:pt idx="9">
                  <c:v>Trabalho infantil</c:v>
                </c:pt>
                <c:pt idx="10">
                  <c:v>Outros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Nº de atendimentos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Própria pessoa*</c:v>
                </c:pt>
                <c:pt idx="1">
                  <c:v>Cônjuge/companheiro(a)</c:v>
                </c:pt>
                <c:pt idx="2">
                  <c:v>Ex-cônjuge</c:v>
                </c:pt>
                <c:pt idx="3">
                  <c:v>Namorado(a)/ex</c:v>
                </c:pt>
                <c:pt idx="4">
                  <c:v>Pai/mãe</c:v>
                </c:pt>
                <c:pt idx="5">
                  <c:v>Filho(a)</c:v>
                </c:pt>
                <c:pt idx="6">
                  <c:v>Amigos/conhecidos</c:v>
                </c:pt>
                <c:pt idx="7">
                  <c:v>Desconhecido</c:v>
                </c:pt>
                <c:pt idx="8">
                  <c:v>Cuidador(a)</c:v>
                </c:pt>
                <c:pt idx="9">
                  <c:v>Outros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Nº de atendimentos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Demanda espontânea</c:v>
                </c:pt>
                <c:pt idx="1">
                  <c:v>APS/USF</c:v>
                </c:pt>
                <c:pt idx="2">
                  <c:v>UPA/Hospital</c:v>
                </c:pt>
                <c:pt idx="3">
                  <c:v>Assistência Social</c:v>
                </c:pt>
                <c:pt idx="4">
                  <c:v>Conselho Tutelar</c:v>
                </c:pt>
                <c:pt idx="5">
                  <c:v>Educação</c:v>
                </c:pt>
                <c:pt idx="6">
                  <c:v>Segurança Pública</c:v>
                </c:pt>
                <c:pt idx="7">
                  <c:v>Justiça/MP/Defensoria</c:v>
                </c:pt>
                <c:pt idx="8">
                  <c:v>Outros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Nº de atendimentos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[Bairro 1]</c:v>
                </c:pt>
                <c:pt idx="1">
                  <c:v>[Bairro 2]</c:v>
                </c:pt>
                <c:pt idx="2">
                  <c:v>[Bairro 3]</c:v>
                </c:pt>
                <c:pt idx="3">
                  <c:v>[Bairro 4]</c:v>
                </c:pt>
                <c:pt idx="4">
                  <c:v>[Bairro 5]</c:v>
                </c:pt>
                <c:pt idx="5">
                  <c:v>[Demais]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Nº de atendimentos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[Localidade 1]</c:v>
                </c:pt>
                <c:pt idx="1">
                  <c:v>[Localidade 2]</c:v>
                </c:pt>
                <c:pt idx="2">
                  <c:v>[Localidade 3]</c:v>
                </c:pt>
                <c:pt idx="3">
                  <c:v>[Localidade 4]</c:v>
                </c:pt>
                <c:pt idx="4">
                  <c:v>[Localidade 5]</c:v>
                </c:pt>
                <c:pt idx="5">
                  <c:v>[Demais]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9b64c9d-d5bf-4dbd-ad69-42bdadca7ce9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4360"/>
            <a:ext cx="2697480" cy="32526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3977639"/>
            <a:ext cx="283464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MODELO PADRONIZADO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17720"/>
            <a:ext cx="27889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Apresentação dos dados dos serviços da Rede de Proteção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143000"/>
            <a:ext cx="662940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900" b="1">
                <a:solidFill>
                  <a:srgbClr val="531C7E"/>
                </a:solidFill>
                <a:latin typeface="Aptos"/>
              </a:defRPr>
            </a:pPr>
            <a:r>
              <a:t>ATENDIMENTOS ÀS VÍTIMAS DE VIOLÊNCIA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152" y="1938528"/>
            <a:ext cx="6126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200" b="1">
                <a:solidFill>
                  <a:srgbClr val="302B37"/>
                </a:solidFill>
                <a:latin typeface="Aptos"/>
              </a:defRPr>
            </a:pPr>
            <a:r>
              <a:t>Janeiro a agosto de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880360"/>
            <a:ext cx="603504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696270"/>
                </a:solidFill>
                <a:latin typeface="Aptos"/>
              </a:defRPr>
            </a:pPr>
            <a:r>
              <a:t>Palmeira dos Índios - AL</a:t>
            </a:r>
            <a:br/>
            <a:r>
              <a:t>Reunião da Rede de Proteção / Grupo Técnico de Vigilância das Violências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5074920"/>
            <a:ext cx="612648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531C7E"/>
                </a:solidFill>
                <a:latin typeface="Aptos"/>
              </a:defRPr>
            </a:pPr>
            <a:r>
              <a:t>Substitua os textos entre [colchetes] e os valores demonstrativos pelos dados do seu serviço.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1. IDENTIFICAÇÃO DO SERVIÇO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188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6270"/>
                </a:solidFill>
              </a:defRPr>
            </a:pPr>
            <a:r>
              <a:t>Apresente brevemente quem é o serviço e qual o seu papel na rede.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270"/>
                </a:solidFill>
              </a:defRPr>
            </a:pPr>
            <a:r>
              <a:t>Rede de Proteção às Vítimas de Violência • Palmeira dos Índios/AL • Dados de janeiro a agosto de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73152" cy="1143000"/>
          </a:xfrm>
          <a:prstGeom prst="rect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344168"/>
            <a:ext cx="246888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NOME DO SERVIÇO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673352"/>
            <a:ext cx="24688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531C7E"/>
                </a:solidFill>
                <a:latin typeface="Aptos"/>
              </a:defRPr>
            </a:pPr>
            <a:r>
              <a:t>[Nome do serviço]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23444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234440"/>
            <a:ext cx="73152" cy="1143000"/>
          </a:xfrm>
          <a:prstGeom prst="rect">
            <a:avLst/>
          </a:prstGeom>
          <a:solidFill>
            <a:srgbClr val="1C5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1344168"/>
            <a:ext cx="219456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ÓRGÃO / SECRETARIA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1673352"/>
            <a:ext cx="219456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1C5391"/>
                </a:solidFill>
                <a:latin typeface="Aptos"/>
              </a:defRPr>
            </a:pPr>
            <a:r>
              <a:t>[Vinculação]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3444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73152" cy="1143000"/>
          </a:xfrm>
          <a:prstGeom prst="rect">
            <a:avLst/>
          </a:prstGeom>
          <a:solidFill>
            <a:srgbClr val="19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344168"/>
            <a:ext cx="214884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TERRITÓRIO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1673352"/>
            <a:ext cx="214884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19844E"/>
                </a:solidFill>
                <a:latin typeface="Aptos"/>
              </a:defRPr>
            </a:pPr>
            <a:r>
              <a:t>[Abrangência]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234440"/>
            <a:ext cx="2697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1234440"/>
            <a:ext cx="73152" cy="1143000"/>
          </a:xfrm>
          <a:prstGeom prst="rect">
            <a:avLst/>
          </a:prstGeom>
          <a:solidFill>
            <a:srgbClr val="CA2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1344168"/>
            <a:ext cx="242316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RESPONSÁVEL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1673352"/>
            <a:ext cx="242316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CA247A"/>
                </a:solidFill>
                <a:latin typeface="Aptos"/>
              </a:defRPr>
            </a:pPr>
            <a:r>
              <a:t>[Nome e função]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788920"/>
            <a:ext cx="237744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1">
                <a:solidFill>
                  <a:srgbClr val="531C7E"/>
                </a:solidFill>
                <a:latin typeface="Aptos"/>
              </a:defRPr>
            </a:pPr>
            <a:r>
              <a:t>O QUE FAZEMOS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127248"/>
            <a:ext cx="5212080" cy="1417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302B37"/>
                </a:solidFill>
                <a:latin typeface="Aptos"/>
              </a:defRPr>
            </a:pPr>
            <a:r>
              <a:t>[Descreva em 3 a 5 linhas as principais atribuições do serviço no atendimento, acolhimento, proteção, encaminhamento e/ou acompanhamento das vítimas de violência.]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788920"/>
            <a:ext cx="246888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1">
                <a:solidFill>
                  <a:srgbClr val="531C7E"/>
                </a:solidFill>
                <a:latin typeface="Aptos"/>
              </a:defRPr>
            </a:pPr>
            <a:r>
              <a:t>PORTA DE ENTRADA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127248"/>
            <a:ext cx="45720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302B37"/>
                </a:solidFill>
                <a:latin typeface="Aptos"/>
              </a:defRPr>
            </a:pPr>
            <a:r>
              <a:t>[Demanda espontânea / encaminhamento / busca ativa / outro]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51960"/>
            <a:ext cx="246888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1">
                <a:solidFill>
                  <a:srgbClr val="531C7E"/>
                </a:solidFill>
                <a:latin typeface="Aptos"/>
              </a:defRPr>
            </a:pPr>
            <a:r>
              <a:t>CONTATO INSTITUCIONAL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90288"/>
            <a:ext cx="457200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0">
                <a:solidFill>
                  <a:srgbClr val="302B37"/>
                </a:solidFill>
                <a:latin typeface="Aptos"/>
              </a:defRPr>
            </a:pPr>
            <a:r>
              <a:t>[Telefone • e-mail • endereço • horário]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989320"/>
            <a:ext cx="10881360" cy="384048"/>
          </a:xfrm>
          <a:prstGeom prst="roundRect">
            <a:avLst/>
          </a:prstGeom>
          <a:solidFill>
            <a:srgbClr val="F8F3FB"/>
          </a:solidFill>
          <a:ln>
            <a:solidFill>
              <a:srgbClr val="DC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6071616"/>
            <a:ext cx="105613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0">
                <a:solidFill>
                  <a:srgbClr val="531C7E"/>
                </a:solidFill>
                <a:latin typeface="Aptos"/>
              </a:defRPr>
            </a:pPr>
            <a:r>
              <a:t>Padronização: evite dados pessoais identificáveis das vítimas. Apresente somente dados agregados.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2. PANORAMA GERAL DOS ATENDIMENTOS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188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6270"/>
                </a:solidFill>
              </a:defRPr>
            </a:pPr>
            <a:r>
              <a:t>Período de referência: 01/01/2026 a 31/08/2026.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270"/>
                </a:solidFill>
              </a:defRPr>
            </a:pPr>
            <a:r>
              <a:t>Rede de Proteção às Vítimas de Violência • Palmeira dos Índios/AL • Dados de janeiro a agosto de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2834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1417320"/>
          </a:xfrm>
          <a:prstGeom prst="rect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435607"/>
            <a:ext cx="256032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TOTAL DE ATENDIMENTOS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764792"/>
            <a:ext cx="256032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531C7E"/>
                </a:solidFill>
                <a:latin typeface="Aptos"/>
              </a:defRPr>
            </a:pPr>
            <a:r>
              <a:t>[000]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59152"/>
            <a:ext cx="256032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00" b="0">
                <a:solidFill>
                  <a:srgbClr val="696270"/>
                </a:solidFill>
                <a:latin typeface="Aptos"/>
              </a:defRPr>
            </a:pPr>
            <a:r>
              <a:t>Total registrado no período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32588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1325880"/>
            <a:ext cx="73152" cy="1417320"/>
          </a:xfrm>
          <a:prstGeom prst="rect">
            <a:avLst/>
          </a:prstGeom>
          <a:solidFill>
            <a:srgbClr val="CA2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1" y="1435607"/>
            <a:ext cx="224028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FEMININO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1" y="1764792"/>
            <a:ext cx="22402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CA247A"/>
                </a:solidFill>
                <a:latin typeface="Aptos"/>
              </a:defRPr>
            </a:pPr>
            <a:r>
              <a:t>[000]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911" y="2359152"/>
            <a:ext cx="224028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00" b="0">
                <a:solidFill>
                  <a:srgbClr val="696270"/>
                </a:solidFill>
                <a:latin typeface="Aptos"/>
              </a:defRPr>
            </a:pPr>
            <a:r>
              <a:t>[00,0%]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32588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325880"/>
            <a:ext cx="73152" cy="1417320"/>
          </a:xfrm>
          <a:prstGeom prst="rect">
            <a:avLst/>
          </a:prstGeom>
          <a:solidFill>
            <a:srgbClr val="1C5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1435607"/>
            <a:ext cx="224028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MASCULINO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1764792"/>
            <a:ext cx="22402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1C5391"/>
                </a:solidFill>
                <a:latin typeface="Aptos"/>
              </a:defRPr>
            </a:pPr>
            <a:r>
              <a:t>[000]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359152"/>
            <a:ext cx="224028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00" b="0">
                <a:solidFill>
                  <a:srgbClr val="696270"/>
                </a:solidFill>
                <a:latin typeface="Aptos"/>
              </a:defRPr>
            </a:pPr>
            <a:r>
              <a:t>[00,0%]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325880"/>
            <a:ext cx="2377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325880"/>
            <a:ext cx="73152" cy="1417320"/>
          </a:xfrm>
          <a:prstGeom prst="rect">
            <a:avLst/>
          </a:prstGeom>
          <a:solidFill>
            <a:srgbClr val="F6A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2" y="1435607"/>
            <a:ext cx="210312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OUTRO / IGN.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1764792"/>
            <a:ext cx="210312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F6AB16"/>
                </a:solidFill>
                <a:latin typeface="Aptos"/>
              </a:defRPr>
            </a:pPr>
            <a:r>
              <a:t>[000]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2359152"/>
            <a:ext cx="210312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00" b="0">
                <a:solidFill>
                  <a:srgbClr val="696270"/>
                </a:solidFill>
                <a:latin typeface="Aptos"/>
              </a:defRPr>
            </a:pPr>
            <a:r>
              <a:t>Se aplicável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22960" y="3154680"/>
          <a:ext cx="1051560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640080" y="5989320"/>
            <a:ext cx="10881360" cy="384048"/>
          </a:xfrm>
          <a:prstGeom prst="roundRect">
            <a:avLst/>
          </a:prstGeom>
          <a:solidFill>
            <a:srgbClr val="F8F3FB"/>
          </a:solidFill>
          <a:ln>
            <a:solidFill>
              <a:srgbClr val="DC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6071616"/>
            <a:ext cx="105613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0">
                <a:solidFill>
                  <a:srgbClr val="531C7E"/>
                </a:solidFill>
                <a:latin typeface="Aptos"/>
              </a:defRPr>
            </a:pPr>
            <a:r>
              <a:t>Informe claramente se o indicador representa pessoas atendidas, atendimentos realizados, casos acompanhados ou notificações.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3. DISTRIBUIÇÃO POR SEXO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188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6270"/>
                </a:solidFill>
              </a:defRPr>
            </a:pPr>
            <a:r>
              <a:t>Use a mesma classificação adotada no banco de dados do serviço.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270"/>
                </a:solidFill>
              </a:defRPr>
            </a:pPr>
            <a:r>
              <a:t>Rede de Proteção às Vítimas de Violência • Palmeira dos Índios/AL • Dados de janeiro a agosto de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325880"/>
          <a:ext cx="64008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89520" y="150876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508760"/>
            <a:ext cx="73152" cy="1143000"/>
          </a:xfrm>
          <a:prstGeom prst="rect">
            <a:avLst/>
          </a:prstGeom>
          <a:solidFill>
            <a:srgbClr val="CA2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1618488"/>
            <a:ext cx="329184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FEMININO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1947672"/>
            <a:ext cx="329184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CA247A"/>
                </a:solidFill>
                <a:latin typeface="Aptos"/>
              </a:defRPr>
            </a:pPr>
            <a:r>
              <a:t>[000] • [00,0%]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78892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2788920"/>
            <a:ext cx="73152" cy="1143000"/>
          </a:xfrm>
          <a:prstGeom prst="rect">
            <a:avLst/>
          </a:prstGeom>
          <a:solidFill>
            <a:srgbClr val="1C5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2898648"/>
            <a:ext cx="329184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MASCULINO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3227832"/>
            <a:ext cx="329184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1C5391"/>
                </a:solidFill>
                <a:latin typeface="Aptos"/>
              </a:defRPr>
            </a:pPr>
            <a:r>
              <a:t>[000] • [00,0%]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06908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4069080"/>
            <a:ext cx="73152" cy="1143000"/>
          </a:xfrm>
          <a:prstGeom prst="rect">
            <a:avLst/>
          </a:prstGeom>
          <a:solidFill>
            <a:srgbClr val="F6A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4178808"/>
            <a:ext cx="329184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OUTRO / IGNORADO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4507992"/>
            <a:ext cx="329184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F6AB16"/>
                </a:solidFill>
                <a:latin typeface="Aptos"/>
              </a:defRPr>
            </a:pPr>
            <a:r>
              <a:t>[000] • [00,0%]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989320"/>
            <a:ext cx="10881360" cy="384048"/>
          </a:xfrm>
          <a:prstGeom prst="roundRect">
            <a:avLst/>
          </a:prstGeom>
          <a:solidFill>
            <a:srgbClr val="F8F3FB"/>
          </a:solidFill>
          <a:ln>
            <a:solidFill>
              <a:srgbClr val="DC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6071616"/>
            <a:ext cx="105613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0">
                <a:solidFill>
                  <a:srgbClr val="531C7E"/>
                </a:solidFill>
                <a:latin typeface="Aptos"/>
              </a:defRPr>
            </a:pPr>
            <a:r>
              <a:t>Apresente número absoluto (n) e percentual (%). Se não houver categoria 'outro/ignorado', exclua o campo.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4. FAIXA ETÁRIA DAS VÍTIMAS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188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6270"/>
                </a:solidFill>
              </a:defRPr>
            </a:pPr>
            <a:r>
              <a:t>Faixas padronizadas para comparação entre os serviços.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270"/>
                </a:solidFill>
              </a:defRPr>
            </a:pPr>
            <a:r>
              <a:t>Rede de Proteção às Vítimas de Violência • Palmeira dos Índios/AL • Dados de janeiro a agosto de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234440"/>
          <a:ext cx="7315200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0" y="1417320"/>
            <a:ext cx="28346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1">
                <a:solidFill>
                  <a:srgbClr val="531C7E"/>
                </a:solidFill>
                <a:latin typeface="Aptos"/>
              </a:defRPr>
            </a:pPr>
            <a:r>
              <a:t>PREENCHIMENTO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28800"/>
            <a:ext cx="2834640" cy="3108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0">
                <a:solidFill>
                  <a:srgbClr val="302B37"/>
                </a:solidFill>
                <a:latin typeface="Aptos"/>
              </a:defRPr>
            </a:pPr>
            <a:r>
              <a:t>0-6 anos: [n]</a:t>
            </a:r>
            <a:br/>
            <a:r>
              <a:t>7-11 anos: [n]</a:t>
            </a:r>
            <a:br/>
            <a:r>
              <a:t>12-17 anos: [n]</a:t>
            </a:r>
            <a:br/>
            <a:r>
              <a:t>18-24 anos: [n]</a:t>
            </a:r>
            <a:br/>
            <a:r>
              <a:t>25-29 anos: [n]</a:t>
            </a:r>
            <a:br/>
            <a:r>
              <a:t>30-59 anos: [n]</a:t>
            </a:r>
            <a:br/>
            <a:r>
              <a:t>60 anos ou mais: [n]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10881360" cy="384048"/>
          </a:xfrm>
          <a:prstGeom prst="roundRect">
            <a:avLst/>
          </a:prstGeom>
          <a:solidFill>
            <a:srgbClr val="F8F3FB"/>
          </a:solidFill>
          <a:ln>
            <a:solidFill>
              <a:srgbClr val="DC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071616"/>
            <a:ext cx="105613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0">
                <a:solidFill>
                  <a:srgbClr val="531C7E"/>
                </a:solidFill>
                <a:latin typeface="Aptos"/>
              </a:defRPr>
            </a:pPr>
            <a:r>
              <a:t>Mantenha estas faixas etárias em todas as apresentações para permitir leitura comparável da rede.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5. TIPOS DE VIOLÊNCIA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188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6270"/>
                </a:solidFill>
              </a:defRPr>
            </a:pPr>
            <a:r>
              <a:t>Uma mesma vítima/caso pode apresentar mais de um tipo de violência.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270"/>
                </a:solidFill>
              </a:defRPr>
            </a:pPr>
            <a:r>
              <a:t>Rede de Proteção às Vítimas de Violência • Palmeira dos Índios/AL • Dados de janeiro a agosto de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143000"/>
          <a:ext cx="7315200" cy="5074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75320" y="1325880"/>
            <a:ext cx="2971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1">
                <a:solidFill>
                  <a:srgbClr val="531C7E"/>
                </a:solidFill>
                <a:latin typeface="Aptos"/>
              </a:defRPr>
            </a:pPr>
            <a:r>
              <a:t>ORIENTAÇÃO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301752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302B37"/>
                </a:solidFill>
                <a:latin typeface="Aptos"/>
              </a:defRPr>
            </a:pPr>
            <a:r>
              <a:t>Apresente n e %, quando possível.</a:t>
            </a:r>
            <a:br/>
            <a:br/>
            <a:r>
              <a:t>Inclua “Outros” apenas se houver registros e especifique os principais.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406908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4069080"/>
            <a:ext cx="73152" cy="1234440"/>
          </a:xfrm>
          <a:prstGeom prst="rect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4178808"/>
            <a:ext cx="265176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TIPO MAIS FREQUENTE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4507992"/>
            <a:ext cx="265176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531C7E"/>
                </a:solidFill>
                <a:latin typeface="Aptos"/>
              </a:defRPr>
            </a:pPr>
            <a:r>
              <a:t>[Tipo] • [n]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989320"/>
            <a:ext cx="10881360" cy="384048"/>
          </a:xfrm>
          <a:prstGeom prst="roundRect">
            <a:avLst/>
          </a:prstGeom>
          <a:solidFill>
            <a:srgbClr val="F8F3FB"/>
          </a:solidFill>
          <a:ln>
            <a:solidFill>
              <a:srgbClr val="DC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6071616"/>
            <a:ext cx="105613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0">
                <a:solidFill>
                  <a:srgbClr val="531C7E"/>
                </a:solidFill>
                <a:latin typeface="Aptos"/>
              </a:defRPr>
            </a:pPr>
            <a:r>
              <a:t>Se houver múltiplos tipos por caso, o somatório dos tipos poderá ser maior que o total de vítimas/atendimentos.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6. VÍNCULO DO AGRESSOR COM A VÍTIMA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188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6270"/>
                </a:solidFill>
              </a:defRPr>
            </a:pPr>
            <a:r>
              <a:t>Apresente as categorias existentes no sistema/registro do serviço.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270"/>
                </a:solidFill>
              </a:defRPr>
            </a:pPr>
            <a:r>
              <a:t>Rede de Proteção às Vítimas de Violência • Palmeira dos Índios/AL • Dados de janeiro a agosto de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234440"/>
          <a:ext cx="7498079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549640" y="1417320"/>
            <a:ext cx="25603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1">
                <a:solidFill>
                  <a:srgbClr val="531C7E"/>
                </a:solidFill>
                <a:latin typeface="Aptos"/>
              </a:defRPr>
            </a:pPr>
            <a:r>
              <a:t>DESTAQUES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828800"/>
            <a:ext cx="2560320" cy="2194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0">
                <a:solidFill>
                  <a:srgbClr val="302B37"/>
                </a:solidFill>
                <a:latin typeface="Aptos"/>
              </a:defRPr>
            </a:pPr>
            <a:r>
              <a:t>1º [vínculo] - [n]</a:t>
            </a:r>
            <a:br/>
            <a:br/>
            <a:r>
              <a:t>2º [vínculo] - [n]</a:t>
            </a:r>
            <a:br/>
            <a:br/>
            <a:r>
              <a:t>3º [vínculo] - [n]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4663440"/>
            <a:ext cx="256032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00" b="0">
                <a:solidFill>
                  <a:srgbClr val="696270"/>
                </a:solidFill>
                <a:latin typeface="Aptos"/>
              </a:defRPr>
            </a:pPr>
            <a:r>
              <a:t>*Utilize “própria pessoa” apenas nos registros de violência autoprovocada.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989320"/>
            <a:ext cx="10881360" cy="384048"/>
          </a:xfrm>
          <a:prstGeom prst="roundRect">
            <a:avLst/>
          </a:prstGeom>
          <a:solidFill>
            <a:srgbClr val="F8F3FB"/>
          </a:solidFill>
          <a:ln>
            <a:solidFill>
              <a:srgbClr val="DC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6071616"/>
            <a:ext cx="105613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0">
                <a:solidFill>
                  <a:srgbClr val="531C7E"/>
                </a:solidFill>
                <a:latin typeface="Aptos"/>
              </a:defRPr>
            </a:pPr>
            <a:r>
              <a:t>Evite agrupar categorias diferentes sem explicar o critério. Preserve a nomenclatura do banco de dados utilizado.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7. SERVIÇO QUE ENCAMINHOU A VÍTIMA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188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6270"/>
                </a:solidFill>
              </a:defRPr>
            </a:pPr>
            <a:r>
              <a:t>Mostre como as vítimas chegam ao serviço e quais pontos da rede mais encaminham.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270"/>
                </a:solidFill>
              </a:defRPr>
            </a:pPr>
            <a:r>
              <a:t>Rede de Proteção às Vítimas de Violência • Palmeira dos Índios/AL • Dados de janeiro a agosto de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280160"/>
          <a:ext cx="7315200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66760" y="150876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66760" y="1508760"/>
            <a:ext cx="73152" cy="1143000"/>
          </a:xfrm>
          <a:prstGeom prst="rect">
            <a:avLst/>
          </a:prstGeom>
          <a:solidFill>
            <a:srgbClr val="19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1618488"/>
            <a:ext cx="256032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PRINCIPAL ORIGEM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1947672"/>
            <a:ext cx="256032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19844E"/>
                </a:solidFill>
                <a:latin typeface="Aptos"/>
              </a:defRPr>
            </a:pPr>
            <a:r>
              <a:t>[Serviço] • [n]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83464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2834640"/>
            <a:ext cx="73152" cy="1143000"/>
          </a:xfrm>
          <a:prstGeom prst="rect">
            <a:avLst/>
          </a:prstGeom>
          <a:solidFill>
            <a:srgbClr val="1C5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2944368"/>
            <a:ext cx="256032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2ª ORIGEM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3273552"/>
            <a:ext cx="256032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1C5391"/>
                </a:solidFill>
                <a:latin typeface="Aptos"/>
              </a:defRPr>
            </a:pPr>
            <a:r>
              <a:t>[Serviço] • [n]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416052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4160520"/>
            <a:ext cx="73152" cy="1143000"/>
          </a:xfrm>
          <a:prstGeom prst="rect">
            <a:avLst/>
          </a:prstGeom>
          <a:solidFill>
            <a:srgbClr val="F6A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4270248"/>
            <a:ext cx="256032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SEM INFORMAÇÃO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4599431"/>
            <a:ext cx="256032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F6AB16"/>
                </a:solidFill>
                <a:latin typeface="Aptos"/>
              </a:defRPr>
            </a:pPr>
            <a:r>
              <a:t>[n] • [00,0%]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989320"/>
            <a:ext cx="10881360" cy="384048"/>
          </a:xfrm>
          <a:prstGeom prst="roundRect">
            <a:avLst/>
          </a:prstGeom>
          <a:solidFill>
            <a:srgbClr val="F8F3FB"/>
          </a:solidFill>
          <a:ln>
            <a:solidFill>
              <a:srgbClr val="DC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6071616"/>
            <a:ext cx="105613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0">
                <a:solidFill>
                  <a:srgbClr val="531C7E"/>
                </a:solidFill>
                <a:latin typeface="Aptos"/>
              </a:defRPr>
            </a:pPr>
            <a:r>
              <a:t>Se o serviço também recebe demanda espontânea, mantenha essa categoria separada dos encaminhamentos formais.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8. DISTRIBUIÇÃO TERRITORIAL - ZONA URBANA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188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6270"/>
                </a:solidFill>
              </a:defRPr>
            </a:pPr>
            <a:r>
              <a:t>Apresente os bairros de residência/procedência das vítimas atendidas.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270"/>
                </a:solidFill>
              </a:defRPr>
            </a:pPr>
            <a:r>
              <a:t>Rede de Proteção às Vítimas de Violência • Palmeira dos Índios/AL • Dados de janeiro a agosto de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325880"/>
          <a:ext cx="69494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46720" y="150876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508760"/>
            <a:ext cx="73152" cy="1234440"/>
          </a:xfrm>
          <a:prstGeom prst="rect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618488"/>
            <a:ext cx="292608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BAIRRO COM MAIS REGISTROS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947672"/>
            <a:ext cx="29260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531C7E"/>
                </a:solidFill>
                <a:latin typeface="Aptos"/>
              </a:defRPr>
            </a:pPr>
            <a:r>
              <a:t>[Bairro] • [n]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971800"/>
            <a:ext cx="29260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1">
                <a:solidFill>
                  <a:srgbClr val="531C7E"/>
                </a:solidFill>
                <a:latin typeface="Aptos"/>
              </a:defRPr>
            </a:pPr>
            <a:r>
              <a:t>LEITURA TERRITORIAL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383280"/>
            <a:ext cx="292608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302B37"/>
                </a:solidFill>
                <a:latin typeface="Aptos"/>
              </a:defRPr>
            </a:pPr>
            <a:r>
              <a:t>[Descreva, em até 3 linhas, os bairros que concentram maior volume de atendimentos e possíveis necessidades de articulação da rede.]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989320"/>
            <a:ext cx="10881360" cy="384048"/>
          </a:xfrm>
          <a:prstGeom prst="roundRect">
            <a:avLst/>
          </a:prstGeom>
          <a:solidFill>
            <a:srgbClr val="F8F3FB"/>
          </a:solidFill>
          <a:ln>
            <a:solidFill>
              <a:srgbClr val="DC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6071616"/>
            <a:ext cx="105613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0">
                <a:solidFill>
                  <a:srgbClr val="531C7E"/>
                </a:solidFill>
                <a:latin typeface="Aptos"/>
              </a:defRPr>
            </a:pPr>
            <a:r>
              <a:t>Liste preferencialmente todos os bairros; se forem muitos, destaque os principais no gráfico e anexe tabela complementar.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9. DISTRIBUIÇÃO TERRITORIAL - ZONA RURAL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188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6270"/>
                </a:solidFill>
              </a:defRPr>
            </a:pPr>
            <a:r>
              <a:t>Apresente povoados, sítios, aldeias e demais localidades conforme o registro do serviço.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270"/>
                </a:solidFill>
              </a:defRPr>
            </a:pPr>
            <a:r>
              <a:t>Rede de Proteção às Vítimas de Violência • Palmeira dos Índios/AL • Dados de janeiro a agosto de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325880"/>
          <a:ext cx="69494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46720" y="150876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508760"/>
            <a:ext cx="73152" cy="1234440"/>
          </a:xfrm>
          <a:prstGeom prst="rect">
            <a:avLst/>
          </a:prstGeom>
          <a:solidFill>
            <a:srgbClr val="19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618488"/>
            <a:ext cx="292608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050" b="1">
                <a:solidFill>
                  <a:srgbClr val="696270"/>
                </a:solidFill>
                <a:latin typeface="Aptos"/>
              </a:defRPr>
            </a:pPr>
            <a:r>
              <a:t>LOCALIDADE COM MAIS REGISTROS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947672"/>
            <a:ext cx="29260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19844E"/>
                </a:solidFill>
                <a:latin typeface="Aptos"/>
              </a:defRPr>
            </a:pPr>
            <a:r>
              <a:t>[Localidade] • [n]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971800"/>
            <a:ext cx="29260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1">
                <a:solidFill>
                  <a:srgbClr val="531C7E"/>
                </a:solidFill>
                <a:latin typeface="Aptos"/>
              </a:defRPr>
            </a:pPr>
            <a:r>
              <a:t>LEITURA TERRITORIAL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383280"/>
            <a:ext cx="292608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302B37"/>
                </a:solidFill>
                <a:latin typeface="Aptos"/>
              </a:defRPr>
            </a:pPr>
            <a:r>
              <a:t>[Indique localidades com maior concentração, dificuldades de acesso e/ou necessidade de ação intersetorial.]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989320"/>
            <a:ext cx="10881360" cy="384048"/>
          </a:xfrm>
          <a:prstGeom prst="roundRect">
            <a:avLst/>
          </a:prstGeom>
          <a:solidFill>
            <a:srgbClr val="F8F3FB"/>
          </a:solidFill>
          <a:ln>
            <a:solidFill>
              <a:srgbClr val="DC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6071616"/>
            <a:ext cx="105613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0">
                <a:solidFill>
                  <a:srgbClr val="531C7E"/>
                </a:solidFill>
                <a:latin typeface="Aptos"/>
              </a:defRPr>
            </a:pPr>
            <a:r>
              <a:t>Mantenha a grafia oficial das localidades para facilitar consolidação posterior dos dados da rede.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10. SÍNTESE DO SERVIÇO E NECESSIDADES DA REDE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188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6270"/>
                </a:solidFill>
              </a:defRPr>
            </a:pPr>
            <a:r>
              <a:t>Feche a apresentação com uma leitura objetiva dos dados e propostas de articulação.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270"/>
                </a:solidFill>
              </a:defRPr>
            </a:pPr>
            <a:r>
              <a:t>Rede de Proteção às Vítimas de Violência • Palmeira dos Índios/AL • Dados de janeiro a agosto de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8016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39"/>
            <a:ext cx="4754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1">
                <a:solidFill>
                  <a:srgbClr val="531C7E"/>
                </a:solidFill>
                <a:latin typeface="Aptos"/>
              </a:defRPr>
            </a:pPr>
            <a:r>
              <a:t>PRINCIPAIS ACHADOS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39"/>
            <a:ext cx="4709160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302B37"/>
                </a:solidFill>
                <a:latin typeface="Aptos"/>
              </a:defRPr>
            </a:pPr>
            <a:r>
              <a:t>[3 achados mais relevantes do período]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39"/>
            <a:ext cx="4754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1">
                <a:solidFill>
                  <a:srgbClr val="CA247A"/>
                </a:solidFill>
                <a:latin typeface="Aptos"/>
              </a:defRPr>
            </a:pPr>
            <a:r>
              <a:t>FRAGILIDADES IDENTIFICADAS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39"/>
            <a:ext cx="4709160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302B37"/>
                </a:solidFill>
                <a:latin typeface="Aptos"/>
              </a:defRPr>
            </a:pPr>
            <a:r>
              <a:t>[subnotificação, fluxo, acesso, registro, retorno etc.]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03320"/>
            <a:ext cx="4754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1">
                <a:solidFill>
                  <a:srgbClr val="19844E"/>
                </a:solidFill>
                <a:latin typeface="Aptos"/>
              </a:defRPr>
            </a:pPr>
            <a:r>
              <a:t>AÇÕES JÁ REALIZADAS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709160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302B37"/>
                </a:solidFill>
                <a:latin typeface="Aptos"/>
              </a:defRPr>
            </a:pPr>
            <a:r>
              <a:t>[ações do serviço entre janeiro e agosto]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2044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03320"/>
            <a:ext cx="4754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1">
                <a:solidFill>
                  <a:srgbClr val="1C5391"/>
                </a:solidFill>
                <a:latin typeface="Aptos"/>
              </a:defRPr>
            </a:pPr>
            <a:r>
              <a:t>NECESSIDADES / PROPOSTAS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60520"/>
            <a:ext cx="4709160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302B37"/>
                </a:solidFill>
                <a:latin typeface="Aptos"/>
              </a:defRPr>
            </a:pPr>
            <a:r>
              <a:t>[o que o serviço propõe à rede para os próximos meses]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989320"/>
            <a:ext cx="10881360" cy="384048"/>
          </a:xfrm>
          <a:prstGeom prst="roundRect">
            <a:avLst/>
          </a:prstGeom>
          <a:solidFill>
            <a:srgbClr val="F8F3FB"/>
          </a:solidFill>
          <a:ln>
            <a:solidFill>
              <a:srgbClr val="DC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6071616"/>
            <a:ext cx="105613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0">
                <a:solidFill>
                  <a:srgbClr val="531C7E"/>
                </a:solidFill>
                <a:latin typeface="Aptos"/>
              </a:defRPr>
            </a:pPr>
            <a:r>
              <a:t>Encerrar com propostas concretas favorece pactuação intersetorial e definição de responsabilidades.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ORIENTAÇÕES PARA PADRONIZAÇÃO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188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6270"/>
                </a:solidFill>
              </a:defRPr>
            </a:pPr>
            <a:r>
              <a:t>Regras simples para que os dados dos diferentes serviços possam ser comparados.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270"/>
                </a:solidFill>
              </a:defRPr>
            </a:pPr>
            <a:r>
              <a:t>Rede de Proteção às Vítimas de Violência • Palmeira dos Índios/AL • Dados de janeiro a agosto de 2026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051560"/>
            <a:ext cx="292608" cy="292608"/>
          </a:xfrm>
          <a:prstGeom prst="ellipse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065275"/>
            <a:ext cx="128016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033271"/>
            <a:ext cx="100584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302B37"/>
                </a:solidFill>
                <a:latin typeface="Aptos"/>
              </a:defRPr>
            </a:pPr>
            <a:r>
              <a:t>Período único: 1º de janeiro a 31 de agosto de 2026.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1581912"/>
            <a:ext cx="292608" cy="292608"/>
          </a:xfrm>
          <a:prstGeom prst="ellipse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595628"/>
            <a:ext cx="128016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563624"/>
            <a:ext cx="100584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302B37"/>
                </a:solidFill>
                <a:latin typeface="Aptos"/>
              </a:defRPr>
            </a:pPr>
            <a:r>
              <a:t>Informar a unidade de medida: pessoas, casos, atendimentos ou notificações.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112263"/>
            <a:ext cx="292608" cy="292608"/>
          </a:xfrm>
          <a:prstGeom prst="ellipse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125979"/>
            <a:ext cx="128016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093975"/>
            <a:ext cx="100584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302B37"/>
                </a:solidFill>
                <a:latin typeface="Aptos"/>
              </a:defRPr>
            </a:pPr>
            <a:r>
              <a:t>Apresentar número absoluto (n) e percentual (%) sempre que aplicável.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2642615"/>
            <a:ext cx="292608" cy="292608"/>
          </a:xfrm>
          <a:prstGeom prst="ellipse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2656332"/>
            <a:ext cx="128016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624327"/>
            <a:ext cx="100584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302B37"/>
                </a:solidFill>
                <a:latin typeface="Aptos"/>
              </a:defRPr>
            </a:pPr>
            <a:r>
              <a:t>Usar exatamente as faixas etárias padronizadas deste modelo.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172968"/>
            <a:ext cx="292608" cy="292608"/>
          </a:xfrm>
          <a:prstGeom prst="ellipse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186684"/>
            <a:ext cx="128016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154679"/>
            <a:ext cx="100584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302B37"/>
                </a:solidFill>
                <a:latin typeface="Aptos"/>
              </a:defRPr>
            </a:pPr>
            <a:r>
              <a:t>Nos tipos de violência, admitir múltiplas respostas quando o banco permitir.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3703320"/>
            <a:ext cx="292608" cy="292608"/>
          </a:xfrm>
          <a:prstGeom prst="ellipse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717035"/>
            <a:ext cx="128016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85032"/>
            <a:ext cx="100584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302B37"/>
                </a:solidFill>
                <a:latin typeface="Aptos"/>
              </a:defRPr>
            </a:pPr>
            <a:r>
              <a:t>Separar zona urbana (bairros) e zona rural (localidades).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4233671"/>
            <a:ext cx="292608" cy="292608"/>
          </a:xfrm>
          <a:prstGeom prst="ellipse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247387"/>
            <a:ext cx="128016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215383"/>
            <a:ext cx="100584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302B37"/>
                </a:solidFill>
                <a:latin typeface="Aptos"/>
              </a:defRPr>
            </a:pPr>
            <a:r>
              <a:t>Registrar 'sem informação/ignorado' quando necessário, sem redistribuir casos.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4764023"/>
            <a:ext cx="292608" cy="292608"/>
          </a:xfrm>
          <a:prstGeom prst="ellipse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777739"/>
            <a:ext cx="128016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745736"/>
            <a:ext cx="100584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302B37"/>
                </a:solidFill>
                <a:latin typeface="Aptos"/>
              </a:defRPr>
            </a:pPr>
            <a:r>
              <a:t>Não inserir nomes, iniciais, endereços ou outros dados que identifiquem vítimas.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" y="5294375"/>
            <a:ext cx="292608" cy="292608"/>
          </a:xfrm>
          <a:prstGeom prst="ellipse">
            <a:avLst/>
          </a:prstGeom>
          <a:solidFill>
            <a:srgbClr val="531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308091"/>
            <a:ext cx="128016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276088"/>
            <a:ext cx="100584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302B37"/>
                </a:solidFill>
                <a:latin typeface="Aptos"/>
              </a:defRPr>
            </a:pPr>
            <a:r>
              <a:t>Manter a fonte do dado no rodapé: sistema, planilha, prontuário ou relatório do serviço.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080760"/>
            <a:ext cx="107899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000" b="1">
                <a:solidFill>
                  <a:srgbClr val="531C7E"/>
                </a:solidFill>
                <a:latin typeface="Aptos"/>
              </a:defRPr>
            </a:pPr>
            <a:r>
              <a:t>Modelo editável • Substitua os valores demonstrativos e mantenha a estrutura dos slides.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